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d6a267f96b4260" /><Relationship Type="http://schemas.openxmlformats.org/officeDocument/2006/relationships/extended-properties" Target="/docProps/app.xml" Id="Re49bc98de5b249de" /><Relationship Type="http://schemas.openxmlformats.org/officeDocument/2006/relationships/officeDocument" Target="/ppt/presentation.xml" Id="R296bac664bbc48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3edd298b454890"/>
  </p:sldMasterIdLst>
  <p:notesMasterIdLst>
    <p:notesMasterId xmlns:r="http://schemas.openxmlformats.org/officeDocument/2006/relationships" r:id="R229e42a8e4074f3c"/>
  </p:notesMasterIdLst>
  <p:sldIdLst>
    <p:sldId xmlns:r="http://schemas.openxmlformats.org/officeDocument/2006/relationships" id="256" r:id="R0d0a1a856fa34a30"/>
    <p:sldId xmlns:r="http://schemas.openxmlformats.org/officeDocument/2006/relationships" id="257" r:id="Re7583718a59540ff"/>
    <p:sldId xmlns:r="http://schemas.openxmlformats.org/officeDocument/2006/relationships" id="258" r:id="R96fbdf57de3d4c16"/>
    <p:sldId xmlns:r="http://schemas.openxmlformats.org/officeDocument/2006/relationships" id="259" r:id="R692eb74374b248ed"/>
    <p:sldId xmlns:r="http://schemas.openxmlformats.org/officeDocument/2006/relationships" id="260" r:id="Re37e9fd03fec4216"/>
    <p:sldId xmlns:r="http://schemas.openxmlformats.org/officeDocument/2006/relationships" id="261" r:id="Rcee7c9127cbf4b99"/>
    <p:sldId xmlns:r="http://schemas.openxmlformats.org/officeDocument/2006/relationships" id="262" r:id="Rc48e0c780046476e"/>
    <p:sldId xmlns:r="http://schemas.openxmlformats.org/officeDocument/2006/relationships" id="263" r:id="Rb97e96a1ac3a4e9c"/>
    <p:sldId xmlns:r="http://schemas.openxmlformats.org/officeDocument/2006/relationships" id="264" r:id="R31715b8efc1f450f"/>
    <p:sldId xmlns:r="http://schemas.openxmlformats.org/officeDocument/2006/relationships" id="265" r:id="Rb39f26608b474c80"/>
    <p:sldId xmlns:r="http://schemas.openxmlformats.org/officeDocument/2006/relationships" id="266" r:id="Rd1cac241681b4751"/>
    <p:sldId xmlns:r="http://schemas.openxmlformats.org/officeDocument/2006/relationships" id="267" r:id="Re16f2951e81443c1"/>
    <p:sldId xmlns:r="http://schemas.openxmlformats.org/officeDocument/2006/relationships" id="268" r:id="Rbed94eebf9fe43c9"/>
    <p:sldId xmlns:r="http://schemas.openxmlformats.org/officeDocument/2006/relationships" id="269" r:id="R14d665ad57c440d0"/>
    <p:sldId xmlns:r="http://schemas.openxmlformats.org/officeDocument/2006/relationships" id="270" r:id="Rb5bd8e50296a4c0a"/>
    <p:sldId xmlns:r="http://schemas.openxmlformats.org/officeDocument/2006/relationships" id="271" r:id="Rab17c659c8ef4e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edd298b454890" /><Relationship Type="http://schemas.openxmlformats.org/officeDocument/2006/relationships/theme" Target="/ppt/theme/theme1.xml" Id="R1e03705d8a984b66" /><Relationship Type="http://schemas.openxmlformats.org/officeDocument/2006/relationships/notesMaster" Target="/ppt/notesMasters/notesMaster1.xml" Id="R229e42a8e4074f3c" /><Relationship Type="http://schemas.openxmlformats.org/officeDocument/2006/relationships/presProps" Target="/ppt/presProps.xml" Id="Rac3d6b48a5a7479f" /><Relationship Type="http://schemas.openxmlformats.org/officeDocument/2006/relationships/viewProps" Target="/ppt/viewProps.xml" Id="Ra4465e1c0a22434a" /><Relationship Type="http://schemas.openxmlformats.org/officeDocument/2006/relationships/tableStyles" Target="/ppt/tableStyles.xml" Id="Rc445481f2e0e405d" /><Relationship Type="http://schemas.openxmlformats.org/officeDocument/2006/relationships/slide" Target="/ppt/slides/slide1.xml" Id="R0d0a1a856fa34a30" /><Relationship Type="http://schemas.openxmlformats.org/officeDocument/2006/relationships/slide" Target="/ppt/slides/slide2.xml" Id="Re7583718a59540ff" /><Relationship Type="http://schemas.openxmlformats.org/officeDocument/2006/relationships/slide" Target="/ppt/slides/slide3.xml" Id="R96fbdf57de3d4c16" /><Relationship Type="http://schemas.openxmlformats.org/officeDocument/2006/relationships/slide" Target="/ppt/slides/slide4.xml" Id="R692eb74374b248ed" /><Relationship Type="http://schemas.openxmlformats.org/officeDocument/2006/relationships/slide" Target="/ppt/slides/slide5.xml" Id="Re37e9fd03fec4216" /><Relationship Type="http://schemas.openxmlformats.org/officeDocument/2006/relationships/slide" Target="/ppt/slides/slide6.xml" Id="Rcee7c9127cbf4b99" /><Relationship Type="http://schemas.openxmlformats.org/officeDocument/2006/relationships/slide" Target="/ppt/slides/slide7.xml" Id="Rc48e0c780046476e" /><Relationship Type="http://schemas.openxmlformats.org/officeDocument/2006/relationships/slide" Target="/ppt/slides/slide8.xml" Id="Rb97e96a1ac3a4e9c" /><Relationship Type="http://schemas.openxmlformats.org/officeDocument/2006/relationships/slide" Target="/ppt/slides/slide9.xml" Id="R31715b8efc1f450f" /><Relationship Type="http://schemas.openxmlformats.org/officeDocument/2006/relationships/slide" Target="/ppt/slides/slide10.xml" Id="Rb39f26608b474c80" /><Relationship Type="http://schemas.openxmlformats.org/officeDocument/2006/relationships/slide" Target="/ppt/slides/slide11.xml" Id="Rd1cac241681b4751" /><Relationship Type="http://schemas.openxmlformats.org/officeDocument/2006/relationships/slide" Target="/ppt/slides/slide12.xml" Id="Re16f2951e81443c1" /><Relationship Type="http://schemas.openxmlformats.org/officeDocument/2006/relationships/slide" Target="/ppt/slides/slide13.xml" Id="Rbed94eebf9fe43c9" /><Relationship Type="http://schemas.openxmlformats.org/officeDocument/2006/relationships/slide" Target="/ppt/slides/slide14.xml" Id="R14d665ad57c440d0" /><Relationship Type="http://schemas.openxmlformats.org/officeDocument/2006/relationships/slide" Target="/ppt/slides/slide15.xml" Id="Rb5bd8e50296a4c0a" /><Relationship Type="http://schemas.openxmlformats.org/officeDocument/2006/relationships/slide" Target="/ppt/slides/slide16.xml" Id="Rab17c659c8ef4e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74490fab97442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ca06db7be0495a" /><Relationship Type="http://schemas.openxmlformats.org/officeDocument/2006/relationships/notesMaster" Target="/ppt/notesMasters/notesMaster1.xml" Id="R2bdd8d35696a4e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1cad21b50f43ed" /><Relationship Type="http://schemas.openxmlformats.org/officeDocument/2006/relationships/notesMaster" Target="/ppt/notesMasters/notesMaster1.xml" Id="R18089b6f1fe443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d9449d72bd463f" /><Relationship Type="http://schemas.openxmlformats.org/officeDocument/2006/relationships/notesMaster" Target="/ppt/notesMasters/notesMaster1.xml" Id="R75969633a8b84b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d0b20177504cba" /><Relationship Type="http://schemas.openxmlformats.org/officeDocument/2006/relationships/notesMaster" Target="/ppt/notesMasters/notesMaster1.xml" Id="R5e376582410946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131bce4a884fc8" /><Relationship Type="http://schemas.openxmlformats.org/officeDocument/2006/relationships/notesMaster" Target="/ppt/notesMasters/notesMaster1.xml" Id="R2d61b98f1e6d45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24d83e0b9f433d" /><Relationship Type="http://schemas.openxmlformats.org/officeDocument/2006/relationships/notesMaster" Target="/ppt/notesMasters/notesMaster1.xml" Id="Rf222a5da63d243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2a076e806d407d" /><Relationship Type="http://schemas.openxmlformats.org/officeDocument/2006/relationships/notesMaster" Target="/ppt/notesMasters/notesMaster1.xml" Id="R54bcad3a7d0e43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3e101139154433" /><Relationship Type="http://schemas.openxmlformats.org/officeDocument/2006/relationships/notesMaster" Target="/ppt/notesMasters/notesMaster1.xml" Id="R723115bae73b44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c587548a3c4137" /><Relationship Type="http://schemas.openxmlformats.org/officeDocument/2006/relationships/notesMaster" Target="/ppt/notesMasters/notesMaster1.xml" Id="R09de930f48c746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4271004bc74459" /><Relationship Type="http://schemas.openxmlformats.org/officeDocument/2006/relationships/notesMaster" Target="/ppt/notesMasters/notesMaster1.xml" Id="R96745b2bae3047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79772e211f4f11" /><Relationship Type="http://schemas.openxmlformats.org/officeDocument/2006/relationships/notesMaster" Target="/ppt/notesMasters/notesMaster1.xml" Id="R8f780d24a7bc40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900430b9a24a56" /><Relationship Type="http://schemas.openxmlformats.org/officeDocument/2006/relationships/notesMaster" Target="/ppt/notesMasters/notesMaster1.xml" Id="R4c3fc8fc655647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6883b1e31343cb" /><Relationship Type="http://schemas.openxmlformats.org/officeDocument/2006/relationships/notesMaster" Target="/ppt/notesMasters/notesMaster1.xml" Id="R57fec4f42c2844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47c089147b4dea" /><Relationship Type="http://schemas.openxmlformats.org/officeDocument/2006/relationships/notesMaster" Target="/ppt/notesMasters/notesMaster1.xml" Id="Re601a8525aa449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c27f46bf11447e" /><Relationship Type="http://schemas.openxmlformats.org/officeDocument/2006/relationships/notesMaster" Target="/ppt/notesMasters/notesMaster1.xml" Id="Rb175391c6dd646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4d71b66f8a478f" /><Relationship Type="http://schemas.openxmlformats.org/officeDocument/2006/relationships/notesMaster" Target="/ppt/notesMasters/notesMaster1.xml" Id="Rffa67c82adac4b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89d7525ef41d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366dfdaf0a34b71" /><Relationship Type="http://schemas.openxmlformats.org/officeDocument/2006/relationships/slideLayout" Target="/ppt/slideLayouts/slideLayout2.xml" Id="Rd21fbb0ab7a840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1fbb0ab7a840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6db83382c243f7" /><Relationship Type="http://schemas.openxmlformats.org/officeDocument/2006/relationships/notesSlide" Target="/ppt/notesSlides/notesSlide1.xml" Id="Rcf34fe4d02b44e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630e8a815748db" /><Relationship Type="http://schemas.openxmlformats.org/officeDocument/2006/relationships/notesSlide" Target="/ppt/notesSlides/notesSlide2.xml" Id="R300881f0629a41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f3ffc9212947a6" /><Relationship Type="http://schemas.openxmlformats.org/officeDocument/2006/relationships/notesSlide" Target="/ppt/notesSlides/notesSlide3.xml" Id="R852cb29f559c4f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acff6f00a6447a" /><Relationship Type="http://schemas.openxmlformats.org/officeDocument/2006/relationships/notesSlide" Target="/ppt/notesSlides/notesSlide4.xml" Id="R96526e6bde234f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9d14618b384f62" /><Relationship Type="http://schemas.openxmlformats.org/officeDocument/2006/relationships/notesSlide" Target="/ppt/notesSlides/notesSlide5.xml" Id="R27cb74fd2f1b42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a1f6b6e90e4d41" /><Relationship Type="http://schemas.openxmlformats.org/officeDocument/2006/relationships/notesSlide" Target="/ppt/notesSlides/notesSlide6.xml" Id="R1af0273d838244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7d6783a38743e4" /><Relationship Type="http://schemas.openxmlformats.org/officeDocument/2006/relationships/notesSlide" Target="/ppt/notesSlides/notesSlide7.xml" Id="R5a74a2c0dc7e4a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ec5ebd90e246a7" /><Relationship Type="http://schemas.openxmlformats.org/officeDocument/2006/relationships/notesSlide" Target="/ppt/notesSlides/notesSlide8.xml" Id="R71d46ddf8e3b4d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4b51c4d0844e3f" /><Relationship Type="http://schemas.openxmlformats.org/officeDocument/2006/relationships/notesSlide" Target="/ppt/notesSlides/notesSlide9.xml" Id="R2aa239f3f5e746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4bcb286cec4ea8" /><Relationship Type="http://schemas.openxmlformats.org/officeDocument/2006/relationships/notesSlide" Target="/ppt/notesSlides/notesSlide10.xml" Id="R82482569747040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b9d4a760144ec5" /><Relationship Type="http://schemas.openxmlformats.org/officeDocument/2006/relationships/notesSlide" Target="/ppt/notesSlides/notesSlide11.xml" Id="R734f971557534b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f6187affb04047" /><Relationship Type="http://schemas.openxmlformats.org/officeDocument/2006/relationships/notesSlide" Target="/ppt/notesSlides/notesSlide12.xml" Id="R0d6d4d39a5f644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e3995155e34609" /><Relationship Type="http://schemas.openxmlformats.org/officeDocument/2006/relationships/notesSlide" Target="/ppt/notesSlides/notesSlide13.xml" Id="R405c157fc9a24d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023e82bf2a4361" /><Relationship Type="http://schemas.openxmlformats.org/officeDocument/2006/relationships/notesSlide" Target="/ppt/notesSlides/notesSlide14.xml" Id="R85cf26217db14e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bc8f1a23ac4581" /><Relationship Type="http://schemas.openxmlformats.org/officeDocument/2006/relationships/notesSlide" Target="/ppt/notesSlides/notesSlide15.xml" Id="Ra69290a8205a48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c5795c7b8d49b2" /><Relationship Type="http://schemas.openxmlformats.org/officeDocument/2006/relationships/notesSlide" Target="/ppt/notesSlides/notesSlide16.xml" Id="Rd0a2d1a305dd4bb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AA7874-1A62-4854-A5C5-823CBA81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683C0-E669-4CDE-9785-86AE7DA9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AEACC-C6F7-4783-A675-D65CCC43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B67AB-FAAF-4A3C-9273-5D268ECB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AFTER LOGON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90FDB-3FFF-4A0A-A8B2-9032B4B7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9B03A-4B02-4D19-9C20-21843C9A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571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98E47-2291-4959-9C6B-0CB86448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Your LOGon project starts here.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5B31D-4374-4931-97DF-C963DFC5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76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You will turn PDF or scanned food-wholesale orders into validated ERP-ready JSON using Gemini, Antigravity, and your own engineering judgement.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AE368-4486-41C3-8563-ECCDE0EE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2857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81F1D-9925-4C29-B334-1D5A0F85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00150"/>
            <a:ext cx="476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4C470-B46A-4B03-8E2C-07EF0C31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9065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Your working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D5BF4-09ED-46FA-B4B2-647B90E2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90700"/>
            <a:ext cx="24384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PDF evidence</a:t>
            </a:r>
          </a:p>
          <a:p xmlns:a="http://schemas.openxmlformats.org/drawingml/2006/main">
            <a:pPr algn="l">
              <a:defRPr sz="16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Gemini extraction</a:t>
            </a:r>
          </a:p>
          <a:p xmlns:a="http://schemas.openxmlformats.org/drawingml/2006/main">
            <a:pPr algn="l">
              <a:defRPr sz="16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schema validation</a:t>
            </a:r>
          </a:p>
          <a:p xmlns:a="http://schemas.openxmlformats.org/drawingml/2006/main">
            <a:pPr algn="l">
              <a:defRPr sz="16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catalog matching</a:t>
            </a:r>
          </a:p>
          <a:p xmlns:a="http://schemas.openxmlformats.org/drawingml/2006/main">
            <a:pPr algn="l">
              <a:defRPr sz="16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human review</a:t>
            </a:r>
          </a:p>
          <a:p xmlns:a="http://schemas.openxmlformats.org/drawingml/2006/main">
            <a:pPr algn="l">
              <a:defRPr sz="16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191AA-6BDB-4ED2-A2CE-F9AF492B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This PPTX is your classroom guide. The folder is your working bench.</a:t>
            </a:r>
          </a:p>
        </p:txBody>
      </p:sp>
    </p:spTree>
    <p:extLst>
      <p:ext uri="{BB962C8B-B14F-4D97-AF65-F5344CB8AC3E}">
        <p14:creationId xmlns:p14="http://schemas.microsoft.com/office/powerpoint/2010/main" val="6087299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9F25D0-690D-418E-8DCC-FEB1DF40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1E587-41C8-4DEB-9118-C22B1A3F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12562-B602-4175-84A4-1CA54BFD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95040-9F59-46D0-828C-FEDFE148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WHAT THIS DECK IS SAYING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7A80D-0D5F-4110-9EA0-CC77B1DB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F03BC-22BC-4CC3-8170-C37B8071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Build the LOGon solution around explicit data objects.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16B52-D2FE-46F7-8C4C-48CF556F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Do not start by choosing tools. Start by understanding what moves through the pipeline.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D26D3-A797-4CE7-BA52-A8486A83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400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9271A-E094-441E-9485-96DB61C5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DFF7C-5DDF-48A2-9779-E7E048A2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74EA6-3498-4909-BE75-0C6C2BBE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The kit gives you order, item, product, match, and feedback objects before it asks you to build UI.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5578F-F683-4CA9-8731-75C3EB53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400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52AF9-44AD-4917-BE98-9BE456D4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9E858-DEF0-4BD2-A44C-15AEA394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242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Pipeline second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BBA96-7EE1-4D68-A09A-A9EA08DA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Gemini fills one object. Python validates it, matches it, and prepares it for 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C57357-7A0C-40C2-8BB2-430FFEFC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33750"/>
            <a:ext cx="2400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A5DD1-9F85-4A02-9057-2816893C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33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6A8E6-D9D6-4CD7-9A32-A4F80AD2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242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Local 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D3003-F6A7-4229-A147-D6115EBD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Start with JSONL or SQLite. You need something inspectable before you need cloud infrastructure.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DD9F0-B612-43FE-9631-81AB4BE6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400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F354C-82A9-43DB-B947-F655D6CF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6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6586D-ABBD-496A-A855-4EE3C26E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242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Choices stay open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9A97D-4763-4C2F-98C3-84EDE041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FastAPI is a scaffold. Pydantic is one validation option. Your team owns the tradeoffs.</a:t>
            </a:r>
          </a:p>
        </p:txBody>
      </p:sp>
    </p:spTree>
    <p:extLst>
      <p:ext uri="{BB962C8B-B14F-4D97-AF65-F5344CB8AC3E}">
        <p14:creationId xmlns:p14="http://schemas.microsoft.com/office/powerpoint/2010/main" val="543440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08C60-F40B-445F-B3AA-8B38DEE0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285E3-3F2B-4BED-BCC7-464AD69F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C04F0-A5E9-4827-BD34-CAAB2486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D30ED-019F-4A6F-A59F-EE7B6FC7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DATA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46317-8626-4AD7-A8F9-C8948BFE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8517B-1B82-43D1-835A-56DEC60A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Start with `schemas.py`: it tells you what the system must know.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9532B-E895-4264-8595-74490C74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These objects are the backbone of the starter app and the cleanest way to reason about the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A94DE-ED1D-4F02-8D24-A9D5380F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4305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4804C-57AD-4445-A6AA-76241BDE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388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ExtractedItem</a:t>
            </a:r>
          </a:p>
          <a:p xmlns:a="http://schemas.openxmlformats.org/drawingml/2006/main">
            <a:pPr algn="l">
              <a:def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raw_text</a:t>
            </a:r>
          </a:p>
          <a:p xmlns:a="http://schemas.openxmlformats.org/drawingml/2006/main">
            <a:pPr algn="l">
              <a:def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quantity</a:t>
            </a:r>
          </a:p>
          <a:p xmlns:a="http://schemas.openxmlformats.org/drawingml/2006/main">
            <a:pPr algn="l">
              <a:def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unit_hint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ExtractedOrder</a:t>
            </a:r>
          </a:p>
          <a:p xmlns:a="http://schemas.openxmlformats.org/drawingml/2006/main">
            <a:pPr algn="l">
              <a:def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customer_hint</a:t>
            </a:r>
          </a:p>
          <a:p xmlns:a="http://schemas.openxmlformats.org/drawingml/2006/main">
            <a:pPr algn="l">
              <a:def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delivery_note</a:t>
            </a:r>
          </a:p>
          <a:p xmlns:a="http://schemas.openxmlformats.org/drawingml/2006/main">
            <a:pPr algn="l">
              <a:def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raw_text</a:t>
            </a:r>
          </a:p>
          <a:p xmlns:a="http://schemas.openxmlformats.org/drawingml/2006/main">
            <a:pPr algn="l">
              <a:def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items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MatchedOrder</a:t>
            </a:r>
          </a:p>
          <a:p xmlns:a="http://schemas.openxmlformats.org/drawingml/2006/main">
            <a:pPr algn="l">
              <a:def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FeedbackPayload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A86EF-E316-4203-AA37-23A3188D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24200"/>
            <a:ext cx="2247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10EC7-20AA-4E97-BC7D-08728D9B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242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4CA5B-0EC2-46F2-BFE3-B11BB83A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Extraction 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C33F4-07BC-4693-872E-59F24883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828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Gemini should produce `ExtractedOrder`, not final ERP truth.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34236-A15E-4C7D-B353-97622558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2247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F070E-F103-426C-95D3-6F9CB628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9F07E-5793-463C-9360-5845AAF0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147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Matching object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A0EAB-F0E2-4FD7-842A-F5F5DE88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1828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Your code turns extracted phrases into catalog candidates.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B3FE3-CE5A-42EE-85CC-238D04FE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57750"/>
            <a:ext cx="4914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54A13-E578-4C37-B552-A9616B1D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577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9D44F-FE10-4587-B9C9-458BF340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48250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Feedback object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58672-9CC6-437C-A935-F497627E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19700"/>
            <a:ext cx="449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The reviewed correction becomes data for improving the next run.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A1949-3283-4A1C-86BC-47D6B1ED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If you understand these objects, the rest of the kit becomes much easier to navigate.</a:t>
            </a:r>
          </a:p>
        </p:txBody>
      </p:sp>
    </p:spTree>
    <p:extLst>
      <p:ext uri="{BB962C8B-B14F-4D97-AF65-F5344CB8AC3E}">
        <p14:creationId xmlns:p14="http://schemas.microsoft.com/office/powerpoint/2010/main" val="11250640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9D72D0-D42F-479D-89AE-C99F6ED2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42697-BD62-454F-8048-7A7D8B2A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C0C9F-4F5C-4DFF-BEDA-38B2D8FC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9810F-0D01-42FB-8881-C6308D9E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PYTHON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5D83D-2E4E-4C2C-8E0B-24123631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9439F-2FF6-4BEB-8C8A-5BB08E41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The starter app is a small Python pipeline you can inspect.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53840-FB09-47A3-913E-AEE17B48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Each file has one job. That is the structure you should keep, even if you later change the framework.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79574-991C-4AC8-A0E6-7988DBD0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6EC73-D6C1-43AF-98CB-DED5B502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22454-FA9C-49B8-B397-433E83B7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533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schemas.py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DDBCA-135A-49C4-8D0D-4845BBE2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533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Defines the objects that move through the system.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B324E-360B-4095-B18D-7FF5B744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371850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75ABF-4DC3-438E-A922-F60BDB89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3718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8F2C4-97EB-43C2-97E5-6E7E9DD1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62350"/>
            <a:ext cx="1533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gemini_pipeline.py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FF21F-7E22-4D31-B8F0-409D9B12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62400"/>
            <a:ext cx="1533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Turns PDF evidence into an `ExtractedOrder`.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0D6AA-BC41-4538-9D54-171266A7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71850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F9F2C-8FEA-4F92-85BB-6BE8E9FD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718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F6686-9923-49EB-9AB5-4B477D15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62350"/>
            <a:ext cx="1533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matching.py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8F6D0-7646-4DA4-BEFE-7E666C44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1533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Ranks customer-template and catalog candidates.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ADA34-87B9-46F5-91DD-C0F98F26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71850"/>
            <a:ext cx="1952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C2EDCA-5305-4042-B79A-EADA4BB4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718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6CDBB-A4DA-47F1-9012-DEA77DC8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562350"/>
            <a:ext cx="1533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main.py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DE95A0-2FB4-4A82-A173-81FCE899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962400"/>
            <a:ext cx="1533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Exposes the pipeline to the frontend.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803906-AD06-4A91-BC34-71A257E8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71850"/>
            <a:ext cx="1504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C094E8-762A-4C76-AD1D-391CA0A9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718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6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086AC8-41C1-48E9-B7D9-28986D5A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62350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1BCCD-EF0E-46FA-8B30-74C514FE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62400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Stores reviewed corrections locally.</a:t>
            </a:r>
          </a:p>
        </p:txBody>
      </p:sp>
    </p:spTree>
    <p:extLst>
      <p:ext uri="{BB962C8B-B14F-4D97-AF65-F5344CB8AC3E}">
        <p14:creationId xmlns:p14="http://schemas.microsoft.com/office/powerpoint/2010/main" val="4374169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908A57-EA61-461F-81FD-FD79F51E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1FB19-DA19-45C7-8B73-A914B7AF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AAB64-6FD9-490D-AEA9-801D2519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2867F-86EE-41E1-BF96-FD67C4F3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PDF-FIRST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75213-0E9A-4E94-BEF2-2E66E88B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EF586-55B2-43E0-8469-24034907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A PDF becomes `ExtractedOrder` before anything else.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40DBE-3E8B-4FD0-AD56-AF95901E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This is the first checkpoint: can the system turn visible order evidence into a valid Python object?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3003C-ADEC-46E8-9538-2DE40819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D71F2-3FB1-4AAD-B30D-4DD82FF2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F2A86-E36F-4EB7-BD43-06BACD52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PDF or 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60CE8-E775-4469-802A-757FAE0C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Your baseline input is visible order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B3183-5C7E-42F3-B8EB-40BFF182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576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D4530-4971-4C7B-8B5A-9139BB67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6710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73FA4-AD52-4C46-BE89-FDA3666D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671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29318-36B8-49F4-B539-0D83E478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576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Gemini extraction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FDF43-552E-4714-8256-9DC49E62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576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Ask the model to fill the extraction schema.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BEBE3-21E1-47F1-A675-AD76FD0F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15572-3B82-4205-89ED-662E7EEB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6710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4ED25-11F2-4EF6-A7A4-8F39A4B2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671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A3D32-9EFC-443F-A503-7945A27A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576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ExtractedOrder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E77C3-FD2E-4F82-901F-43556FD9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5765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Validate the object before matching begins.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ED4C0E-016A-46F9-832E-B9CF9F10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0AF62-6A87-415C-A753-B7EA76D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1524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EB6B9E-3007-46B9-810C-488AC36F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F0FE3C-3A98-4475-96CE-BC34150A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576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8B74BE-A599-4194-B269-1B117674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57650"/>
            <a:ext cx="1104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Only now compare against the catalog.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4822BF-166E-4E9B-8F1E-2524D169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847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message is not just 'use PDFs'. The message is 'prove one reliable transformation first'.</a:t>
            </a:r>
          </a:p>
        </p:txBody>
      </p:sp>
    </p:spTree>
    <p:extLst>
      <p:ext uri="{BB962C8B-B14F-4D97-AF65-F5344CB8AC3E}">
        <p14:creationId xmlns:p14="http://schemas.microsoft.com/office/powerpoint/2010/main" val="4589840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54B0A6-1511-4E98-BFB6-FB299EE3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F410D-4436-4E30-ACE1-9627162D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D3F43-A901-4F7A-982B-407EC1D2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028D7-E325-460E-A60E-1EB601CC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TARGET 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CD9E1-776F-476E-9D86-7E127571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40184-E24B-47E4-ADB5-CF471FEA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Your model output must become a contract, not a paragraph.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57650-E0CD-4E2F-A8EE-56E5A342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Every order line should be traceable, checkable, and safe to pass into matching.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90AA5-09FA-4D56-8B84-BF7D63CF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47625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A2312-020A-4927-8E12-4780212D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4343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"customer_code": "CUST-DEMO",</a:t>
            </a:r>
          </a:p>
          <a:p xmlns:a="http://schemas.openxmlformats.org/drawingml/2006/main">
            <a:pPr algn="l">
              <a:def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"delivery_note": "deliver tomorrow",</a:t>
            </a:r>
          </a:p>
          <a:p xmlns:a="http://schemas.openxmlformats.org/drawingml/2006/main">
            <a:pPr algn="l">
              <a:def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"items": [</a:t>
            </a:r>
          </a:p>
          <a:p xmlns:a="http://schemas.openxmlformats.org/drawingml/2006/main">
            <a:pPr algn="l">
              <a:def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    "raw_text": "big chef oil 2",</a:t>
            </a:r>
          </a:p>
          <a:p xmlns:a="http://schemas.openxmlformats.org/drawingml/2006/main">
            <a:pPr algn="l">
              <a:def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    "quantity": 2,</a:t>
            </a:r>
          </a:p>
          <a:p xmlns:a="http://schemas.openxmlformats.org/drawingml/2006/main">
            <a:pPr algn="l">
              <a:def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    "unit": "canister",</a:t>
            </a:r>
          </a:p>
          <a:p xmlns:a="http://schemas.openxmlformats.org/drawingml/2006/main">
            <a:pPr algn="l">
              <a:def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    "confidence": 0.87</a:t>
            </a:r>
          </a:p>
          <a:p xmlns:a="http://schemas.openxmlformats.org/drawingml/2006/main">
            <a:pPr algn="l">
              <a:def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  }</a:t>
            </a:r>
          </a:p>
          <a:p xmlns:a="http://schemas.openxmlformats.org/drawingml/2006/main">
            <a:pPr algn="l">
              <a:def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]</a:t>
            </a:r>
          </a:p>
          <a:p xmlns:a="http://schemas.openxmlformats.org/drawingml/2006/main">
            <a:pPr algn="l">
              <a:def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54AC4-EF33-44A3-B276-BBDD2C1E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57D0"/>
                </a:solidFill>
                <a:latin typeface="Aptos"/>
                <a:ea typeface="Aptos"/>
                <a:cs typeface="Aptos"/>
              </a:rPr>
              <a:t>What you preserve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3614C-BA4F-4306-A8CE-15216E55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095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original recognized text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quantity and unit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customer context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confidence and explanation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fallback alternatives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DC2B0-39D1-4316-8F94-47F5029F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ERP record can only be trusted if the extraction can be inspected.</a:t>
            </a:r>
          </a:p>
        </p:txBody>
      </p:sp>
    </p:spTree>
    <p:extLst>
      <p:ext uri="{BB962C8B-B14F-4D97-AF65-F5344CB8AC3E}">
        <p14:creationId xmlns:p14="http://schemas.microsoft.com/office/powerpoint/2010/main" val="14628924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F3BA8E-407C-4787-A976-9BD4B082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E348A-CD5A-4F33-A4A8-34E18699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44E7F-C4AA-4BF7-8C05-4F466DCB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9731E-758E-4482-80CC-7DB2786D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GEMINI SDK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70AD7-57BB-4B1F-B09C-473E336C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56F33-AAFB-4F44-9973-62BBF3FE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Gemini's job is to fill the extraction object.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197D7-4C1E-49AB-B295-CDF054AE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The SDK call should sit behind your Python boundary so the browser never receives the API key.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54590-E9BA-4C24-8851-823CF557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55721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7D52F-1607-4075-9A39-66929EEC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515302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from google import genai</a:t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from google.genai import types</a:t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from app.schemas import ExtractedOrder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client = genai.Client()</a:t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pdf = types.Part.from_bytes(</a:t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  data=pdf_bytes,</a:t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  mime_type="application/pdf",</a:t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response = client.models.generate_content(</a:t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  model=model_name,</a:t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  contents=[prompt, pdf],</a:t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  config=types.GenerateContentConfig(</a:t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      response_schema=ExtractedOrder,</a:t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      response_mime_type="application/json",</a:t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    ),</a:t>
            </a:r>
          </a:p>
          <a:p xmlns:a="http://schemas.openxmlformats.org/drawingml/2006/main">
            <a:pPr algn="l">
              <a:def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90CD1-B3CB-4900-AD55-800E2813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29000"/>
            <a:ext cx="352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important part is the contract: document in, `ExtractedOrder` out, validation next.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EC173-260F-41B0-A6FF-03DDF851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Read `01_gemini_sdk_intro.md` before you ask an agent to write extraction code.</a:t>
            </a:r>
          </a:p>
        </p:txBody>
      </p:sp>
    </p:spTree>
    <p:extLst>
      <p:ext uri="{BB962C8B-B14F-4D97-AF65-F5344CB8AC3E}">
        <p14:creationId xmlns:p14="http://schemas.microsoft.com/office/powerpoint/2010/main" val="6245175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9201FA-8F17-4DE8-ACE2-6A512E1A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34E28-07ED-4E0F-A0B6-E206CFE9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ED103-DF0E-450C-A010-E702AD1F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0D940-66B8-43C3-A668-98701546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6A0DB-6ED0-4DE1-BE73-A900D854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6FD86-BF70-468F-9615-88159200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Validation is mandatory. Pydantic is only one way to do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24D1C-F556-479F-9C7C-3FB4A171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Do not let model output flow directly into matching or ERP handoff.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E4D58-F88F-442C-87DC-DEC552B8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2C11D-C071-4A98-9D24-ECD15146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E9152-EA02-4368-AF90-ED12C737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What is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75DF7-2545-4893-8BB9-60D98CD8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2438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A schema layer that rejects missing fields, wrong types, unsupported units, and malformed order lines.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6300C-9EF7-474C-BCD0-C55A32FD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766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D505A-8FEC-4E05-839D-0F901C8F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766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3619F-D91E-47C3-8B70-2D07A539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6710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What is flexible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99CE8-F385-42C9-B141-44B148EB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67150"/>
            <a:ext cx="2438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Pydantic, JSON Schema, Zod, TypeBox, or another validator can work if your team can explain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AE73A-2901-4003-89A9-45B31EA2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F69DC-5B45-45D1-8C22-C70A671E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699F9-1DC6-40B5-A34B-8D6C4494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67100"/>
            <a:ext cx="2438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What to discuss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13A0C-8EF1-48F8-979E-E4B35C89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2438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Ask Gemini or Antigravity to compare validation choices, then decide as engineers.</a:t>
            </a:r>
          </a:p>
        </p:txBody>
      </p:sp>
    </p:spTree>
    <p:extLst>
      <p:ext uri="{BB962C8B-B14F-4D97-AF65-F5344CB8AC3E}">
        <p14:creationId xmlns:p14="http://schemas.microsoft.com/office/powerpoint/2010/main" val="18494042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B68CF6-5799-43B6-8AEF-641E7839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9ADDA-23A5-45C3-87EC-FFD2F195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6F992-482E-425C-9DA0-19D63C6E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C8B3D-3A7B-4346-8A80-37936C70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A295E-0CA2-4094-9304-3748CC9A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33B56-D018-4161-9FDB-6A2890D9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Keep the local architecture simple and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9C3DC-5EAB-43B7-AE61-6F3B5FBD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You need boundaries you can explain: interface, pipeline, model call, and local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D8628-1870-439A-9A51-8FE50FAF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00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82BF9-59D5-421E-882C-EE2FB1D3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3DD97-54BB-48D8-A068-6FD6A53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Interface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32962-9080-411B-A395-4018C202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Browser UI, notebook, or CLI for upload and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F1810-85F7-4F0F-AA70-06C9ECCD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290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3F638-FFF3-47B9-A34E-222A0777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200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D2FE2-2C88-4798-AEDD-F63859F0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0EC3F-5CF0-4A62-BC74-591E2C4D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1950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Python 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A7E16-3A86-4477-BECB-9A8092EB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1955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Extraction, validation, matching, feedback, tests.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210B8-C0FE-44D7-A9C7-777AD809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290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53C4B-922E-41D7-BFE8-1E0DBCC6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9000"/>
            <a:ext cx="200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806FA-F235-407B-B95C-BC3CBD2D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90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3300A3-8626-4D55-B530-CF8DFB2F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Gemini SDK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A272C-432A-4EB3-A13E-379488CD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Document understanding into `ExtractedOrder`.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D4F10-46FF-49A7-AB62-F3F394AA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290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616BD7-128B-42CD-B923-B205FB7C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200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C99FE-0C15-45AA-930C-954231FD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313856-4508-404D-B114-86D9F1B1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Local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7C97F-CF18-4EFE-ABD2-3B58C1AA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1955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Catalog, customer templates, feedback, evaluation cases.</a:t>
            </a:r>
          </a:p>
        </p:txBody>
      </p:sp>
    </p:spTree>
    <p:extLst>
      <p:ext uri="{BB962C8B-B14F-4D97-AF65-F5344CB8AC3E}">
        <p14:creationId xmlns:p14="http://schemas.microsoft.com/office/powerpoint/2010/main" val="2550805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78E085-CCFA-4971-96CC-D005E44B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F889A-6341-4ACA-BC58-3EFD38E0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D3E82-7E57-42F7-9E6E-157F7564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4BFDA-79DB-4A0D-B21C-E5FAF18E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LOCAL DATA OPTIONS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C4AE8-7590-4BD4-92ED-D096E6CE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73E66-7C34-4E10-93D6-5AD2B846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Let Gemini help you install a local data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52786-4D61-4996-8ED0-9C352D93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Start with inspectable storage. Move to heavier infrastructure only when the prototype demands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911D2-5D1C-4833-A335-8A7B805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2095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E7172-CB1B-4392-8DA5-B459D830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A5965-8B52-4B50-8DAF-0E1BE71C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JSONL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698EC-37A5-4C0F-B6AA-D8079623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Best first step for feedback logs and simple audit trails. The starter app already uses this.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76CA8-FA86-4CDF-B04C-5E873177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76600"/>
            <a:ext cx="2095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97AD2-3BAC-43CD-8AD2-4E80627B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76600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EF871-2C49-4947-84D6-59C0DCA3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A99FE-DB6B-4EFB-8DBC-6E44A8B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71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Best default local database for catalog, customer templates, and feedback tables.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EEF90-3068-405E-96E5-C6891F14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76600"/>
            <a:ext cx="2095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3E8C3-D212-4E26-9A1F-CD102411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76600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E2C716-3D1F-42C5-A893-7CA4075D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671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DuckDB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A737D-8898-47EB-916E-86A397D7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671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Useful when you want local analytics over larger CSV or parquet-style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870B8F-F830-4578-A74A-58EEFBE1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095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47582-2FF8-4AD5-92F0-748A9569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6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CA96AE-4709-43EC-9F76-27EEBAF4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Vector index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61296-09B8-4445-9A21-1510CCF6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671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Use Chroma or FAISS only if embeddings become part of matching.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8D84A7-8419-41AF-A71B-5B02E126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800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Good Antigravity task: replace `feedback.jsonl` with SQLite and add one test that proves feedback is stored.</a:t>
            </a:r>
          </a:p>
        </p:txBody>
      </p:sp>
    </p:spTree>
    <p:extLst>
      <p:ext uri="{BB962C8B-B14F-4D97-AF65-F5344CB8AC3E}">
        <p14:creationId xmlns:p14="http://schemas.microsoft.com/office/powerpoint/2010/main" val="68538229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D5A8A8-3CCD-4887-B0EA-CBE2405E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15B3D-5665-4E18-BF3D-73AE1F9F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6EEF8-EA2A-4EE7-B51C-4EE87BAD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9D40F-D7B2-4FF1-9B13-24D21F9A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RUNNABLE STARTER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185A5-F2C5-4D84-8492-517E6DC0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76B1C-65D3-4C4B-8CA0-C4B4D50D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Run the scaffold before you redesign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00F32-8E5C-4429-B8F3-419EBC46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You should see the full loop once, then decide which part your team will improve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95166-AAFE-46E1-A834-E2E8ADD7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191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1D54D-56EF-4FD5-9E70-96C0EEC2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3771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cd student_kit/starter_app</a:t>
            </a:r>
          </a:p>
          <a:p xmlns:a="http://schemas.openxmlformats.org/drawingml/2006/main">
            <a:pPr algn="l">
              <a:defRPr sz="93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python3 -m venv .venv</a:t>
            </a:r>
          </a:p>
          <a:p xmlns:a="http://schemas.openxmlformats.org/drawingml/2006/main">
            <a:pPr algn="l">
              <a:defRPr sz="93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source .venv/bin/activate</a:t>
            </a:r>
          </a:p>
          <a:p xmlns:a="http://schemas.openxmlformats.org/drawingml/2006/main">
            <a:pPr algn="l">
              <a:defRPr sz="93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pip install -r requirements.txt</a:t>
            </a:r>
          </a:p>
          <a:p xmlns:a="http://schemas.openxmlformats.org/drawingml/2006/main">
            <a:pPr algn="l">
              <a:defRPr sz="938" b="0">
                <a:solidFill>
                  <a:srgbClr val="F7F7F2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7F7F2"/>
                </a:solidFill>
                <a:latin typeface="Aptos Mono"/>
                <a:ea typeface="Aptos Mono"/>
                <a:cs typeface="Aptos Mono"/>
              </a:rPr>
              <a:t>uvicorn app.main:app --reload --port 8000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8F674-A730-4D7F-8164-05B04A90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05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7C41E-D220-4BE3-B493-86E1A24F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385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app/main.py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75C2F-2C26-461B-B0FE-7764D59D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48025"/>
            <a:ext cx="352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API routes and static frontend serving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E1FE-85CB-40FE-BAA2-0CCDECE7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623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84525-5FBD-41E0-BBB2-C8590D93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957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gemini_pipeline.py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E42DA-A2F5-4B61-84D5-58F8179A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05225"/>
            <a:ext cx="352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demo mode and live Gemini extraction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9D4A2-36AC-4F76-8E49-E6AB70E7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195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A7F21-3668-461C-A479-F5712FD0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529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schemas.py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5844E-7BE9-4D1A-B595-83E76501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62425"/>
            <a:ext cx="352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validated order and feedback objects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BC214-7036-479D-A466-DDA7BD41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76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0490B-BAD1-4BB4-87B4-0FD81F0F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101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matching.py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13894E-8BBD-4531-AD42-744AAC7E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19625"/>
            <a:ext cx="352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customer template, score, fallback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2C065-2463-442A-897E-C70B572D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339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04E06-4B45-4BC9-9D08-37CAA343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67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frontend/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EA4CC5-95C8-4AA2-9709-234A5DC5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76825"/>
            <a:ext cx="352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upload, review, correction, feedback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7CD68C-3C5B-4CFC-A791-52E84569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19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14E624-6702-4728-B9A1-96A1F0BD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FE6297-926E-432C-96EE-C7040A19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377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Demo mode matters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7785BC-6D28-4DA0-9D46-FB9AEB6E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377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The app works before you configure a Gemini key, so you can inspect the pipeline shape first.</a:t>
            </a:r>
          </a:p>
        </p:txBody>
      </p:sp>
    </p:spTree>
    <p:extLst>
      <p:ext uri="{BB962C8B-B14F-4D97-AF65-F5344CB8AC3E}">
        <p14:creationId xmlns:p14="http://schemas.microsoft.com/office/powerpoint/2010/main" val="25595220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7958C6-4E09-4511-8D5F-00A5B6E2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7CD1F-CBC2-4943-9D15-0E8724C1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ECE31-A858-462B-9B15-6D336971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988B5-854B-48A9-B4B6-57A0EE19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ANTIGRAVITY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A6903-7E9C-4B2F-A9E8-D96B3913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47BB0-8A29-40A9-8F29-07E54202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Use Antigravity in small verified loops.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E67AA-459D-49EC-AD6A-DBD4DA51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An agent is useful when you give it context, constraints, and a testable next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8DD12-3ED0-4927-9A0E-B24B5018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261E4-C996-4765-85AD-8E6ECE2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B1AD8-8164-4FB5-97FB-97FECF36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1914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Ask with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9304B-527A-49AC-9E25-8EEF53F4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67175"/>
            <a:ext cx="1914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Point to the brief, schema, endpoint, and failing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38225-CEEC-4973-B23E-6C32A139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767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63FAE-F420-4191-88B9-F96FB364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76625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6D7DE-740E-4C10-B068-FAF3FF51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76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979B8-413E-4025-8A7F-8D7CA268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67125"/>
            <a:ext cx="1914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Make one change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09101-F1A3-4822-87D9-05D02148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67175"/>
            <a:ext cx="1914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Extraction, validation, matching, frontend, or feedback. Keep the scope small.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E2CDF-9BEB-414E-8C4A-D8AC9EE3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767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4E360-C071-448E-8258-690248B5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6625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47C31-F10A-44B1-B350-83043251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6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75817A-A35B-44D2-8A7C-35A3BB93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67125"/>
            <a:ext cx="1914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Verify immediately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D89FAF-2694-4EC8-8AC6-DA527958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67175"/>
            <a:ext cx="1914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Run the app, inspect JSON, test matching, and keep notes on failure cases.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AF522-429F-40CC-8215-3E61286C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676AF-DD18-4442-B7C4-B2C1C93A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6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0865B2-7483-4B5E-9F7D-B656901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57800"/>
            <a:ext cx="843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Your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78607-E818-41C4-891C-BF254028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86400"/>
            <a:ext cx="843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If you cannot explain why the agent changed the architecture, the change is not accepted yet.</a:t>
            </a:r>
          </a:p>
        </p:txBody>
      </p:sp>
    </p:spTree>
    <p:extLst>
      <p:ext uri="{BB962C8B-B14F-4D97-AF65-F5344CB8AC3E}">
        <p14:creationId xmlns:p14="http://schemas.microsoft.com/office/powerpoint/2010/main" val="16224876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774A00-482C-42B3-8E3F-9E3FD700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3B3D8-7151-46D2-B204-0BC25DF5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671D7-B5EF-4991-BAFE-E763ED18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AFA16-0B75-4BED-A5F8-88EB652D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MATCHING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453B2-3E7E-48DC-99D2-22123521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20D24-B36B-4FBA-AA40-11B0ED45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Matching is where the LOGon problem becomes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D35B9-E592-4178-B115-9F493C5E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Gemini proposes order lines. Your matching layer decides what is safe enough for a human reviewer.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8FA0C-3E2C-4871-AECB-026B8CB0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1526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4FC33-1134-427C-A280-21014465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9F5B2-F1C2-4C29-ADA3-275A12B1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Customer template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AED67-1144-4606-9290-780F60F6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Search the products this customer usually orders before searching everything.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E60DD-70A0-437B-9465-5C16B05A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95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6D718-F30C-4FDE-990E-B8F4BFDE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05200"/>
            <a:ext cx="21526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5C0B6-D58E-4F53-BD66-530466EE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0520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50898-8B64-4CF2-8C22-8B49C4C9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9570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Probability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E2313-6B25-49F7-94EE-7D4BA1FA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Combine phrase similarity, package hints, synonyms, and customer history.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D9389-CCCD-4586-AD58-54B3B543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95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C65FA-0661-4BFE-A976-0B1FFF5C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21526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41402-4C27-4927-B591-81B6ED88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B784D9-257E-4A31-A1AC-80111AA5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9570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Catalog 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29FC3A-5694-41E1-A944-BEC1C861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95750"/>
            <a:ext cx="1733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Search the full catalog when confidence is below the threshold.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8F14E-5F5C-4204-A868-AC4B639C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95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05342C-446E-49E8-B6C0-7253BA2C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05200"/>
            <a:ext cx="14668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483A63-7D65-4D62-A878-F1B2864D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0520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6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D7E50-8279-47A9-AA35-BBBE0A61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95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8776A3-01B6-45E1-92AB-754FE2F5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957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Corrections improve the next round.</a:t>
            </a:r>
          </a:p>
        </p:txBody>
      </p:sp>
    </p:spTree>
    <p:extLst>
      <p:ext uri="{BB962C8B-B14F-4D97-AF65-F5344CB8AC3E}">
        <p14:creationId xmlns:p14="http://schemas.microsoft.com/office/powerpoint/2010/main" val="185874918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D67FED-FFBD-4F95-A7BF-79547030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A6A1E-9D49-453F-B34A-2A62A261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25133-2756-4CD9-B015-A5145D09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17414-D785-4DC5-94C9-9FAA9195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REVIEW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7451C-FA06-4B80-8115-CEF58C45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645DE-4F0D-4A26-9A12-CBF12598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Your frontend should make uncertainty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FA2FC-06B7-484B-8498-0A330445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The operator needs enough evidence to correct the order quickly and enough structure to create useful feedback.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A89BE-AE3C-4A45-8CC8-0F1863E8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7429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503BC-02FB-46D5-B8EE-3B038D49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Order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85067-A778-47BE-A666-CBC02862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source PDF / raw recognized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CB057-ACF8-4835-ABB8-C73A2718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proposed article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D95B1-3CF2-4B97-9254-EF23D334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confidence and alternatives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A6B46-47A0-48D6-B798-D3D7D0A9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D4C92-6439-47C4-B895-C5DBED28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editable quantity, final confirmation, feedback submission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19248-3D00-436A-880C-BBFC3E07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81039-F180-49EB-8FC6-83DBFEB3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A2C8B-4117-47BD-B4E4-15154C4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0520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83C12-14E2-4030-AC55-BE595525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Do not hide uncertainty behind a polished answer. Show the evidence and the alternatives.</a:t>
            </a:r>
          </a:p>
        </p:txBody>
      </p:sp>
    </p:spTree>
    <p:extLst>
      <p:ext uri="{BB962C8B-B14F-4D97-AF65-F5344CB8AC3E}">
        <p14:creationId xmlns:p14="http://schemas.microsoft.com/office/powerpoint/2010/main" val="83448051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5CC28F-EFA1-460C-863D-37DB8A54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44F67-6037-4685-A2C2-F8360996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A17A0-BD0F-4B6F-862D-308285DA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93144-89B1-4CC9-BD40-ADE34F17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WHAT GOOD LOOKS LIKE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5B6EB-CBAB-4826-9826-3C32B73C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AB328-A969-44C1-9BF1-0673F5F3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A strong solution is observable, validated, and easy to correct.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4B8D3-DAE6-46DF-8945-12B3763E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Use this slide as a quality lens while you build.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983F8-B4C8-4ABE-95DE-9A1930E8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80ED6-9657-4F0F-8C2C-F595243A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AEC27-94EE-4426-AEA0-E0B1B017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Observable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4872F-A5D5-4792-B4F3-D402742E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866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You can inspect the PDF input, model output, match score, alternatives, and final JSON.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D7E8D-6E15-42FC-B945-7685FC6E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7660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0B222-3BD7-46F9-9690-1BCA7509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7660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39AF3-B401-4C66-BF79-5B0D0547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67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Validated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DC8FC-175D-48E5-A605-4C66CDE0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67150"/>
            <a:ext cx="1866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Malformed model output is rejected before matching or handoff.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A64DA-3D40-42B0-A6D6-51BF1B89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7660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F5F5F-03B2-4A95-8663-4DF67D15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7660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E71DA-C3C7-4480-B288-A5A6AF01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67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Explainable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27051-F4E7-4724-A6B4-85D990E5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67150"/>
            <a:ext cx="1866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A reviewer can see why a product was proposed and what else was considered.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B38C2-79D9-45E4-BC0C-92301948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228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56EA9-D11A-4DC6-9F30-27EC79A2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6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79205-5E7F-4815-8666-52058B07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671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Iterated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F83E0-2502-43DB-AFC9-6148CE5B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67150"/>
            <a:ext cx="1866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Corrections become feedback, tests, examples, or improved matching rules.</a:t>
            </a:r>
          </a:p>
        </p:txBody>
      </p:sp>
    </p:spTree>
    <p:extLst>
      <p:ext uri="{BB962C8B-B14F-4D97-AF65-F5344CB8AC3E}">
        <p14:creationId xmlns:p14="http://schemas.microsoft.com/office/powerpoint/2010/main" val="52587276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51976B-8942-4EAE-8C21-C7D56879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D2B3E-1ED1-4EF3-816D-D07D77D2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Prof. Dr. Paul Pronobis | Free University of Bozen-Bolzano / NLP Practice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62BCC-F5A1-4DD7-9F98-1474251B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FCF6A-C0AA-4532-8E21-E8A3AE38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F625D"/>
                </a:solidFill>
                <a:latin typeface="Aptos"/>
                <a:ea typeface="Aptos"/>
                <a:cs typeface="Aptos"/>
              </a:rPr>
              <a:t>FIRST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FC611-3821-419B-A744-0C4D3DD7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53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B631E-0177-46BD-8922-2D4FA485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Leave today with a running loop and one chosen improvement.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E3111-B358-4E78-A628-435CD747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Do not start with a perfect architecture. Start with evidence that the pipeline works end to 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BCB99-C36F-472A-A4DD-15BE1A3D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2266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7C7FC-CBBD-4BD0-ABD8-311DD6E1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AF6FC-3BD5-46BD-8806-5E239156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FCD0F-BA49-483D-BD89-E9E285A1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1847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Open the PDF brief, the project brief, and the Gemini SDK intro.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CCFCC-E53A-48B6-9CCD-5206B6F9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2266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BACCB-CBA8-4D82-8565-4E30DD79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08240-FF4B-448E-AA17-40867CB0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814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32926-A9DC-405C-AC4B-676C3D2F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81450"/>
            <a:ext cx="1847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Start the starter app in demo mode and inspect the JSON it returns.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8DFD6-493D-429E-B5AE-3654C41D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2266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1BEA5-8121-436D-9160-FA4A3DF9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B8820-530E-4BAE-A790-024C477F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2A279F-F05D-4F22-B2A9-31C3829A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1847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Ask Gemini or Antigravity to compare two architecture choices for your team.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7CF1F-7365-4F77-AA3E-0CEBD8D7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2266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9B96D-406B-4801-9663-2633362F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6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B9339-79D4-449B-B888-A57EEB87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814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955EB-FE93-4F4E-849C-BB580DE8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81450"/>
            <a:ext cx="1847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Improve one extraction, validation, matching, review, or feedback behavior.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28B1A-1B63-4B25-9116-20CE538B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7620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10575-DF30-41E0-8176-D1BBBE95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A72B21-704C-4435-AED3-432E0C50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7200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Your first success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FA0002-31BE-48AD-B5DC-89968736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7200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2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25D"/>
                </a:solidFill>
                <a:latin typeface="Aptos"/>
                <a:ea typeface="Aptos"/>
                <a:cs typeface="Aptos"/>
              </a:rPr>
              <a:t>A PDF or demo order enters the system, a structured candidate appears, and you can explain every step.</a:t>
            </a:r>
          </a:p>
        </p:txBody>
      </p:sp>
    </p:spTree>
    <p:extLst>
      <p:ext uri="{BB962C8B-B14F-4D97-AF65-F5344CB8AC3E}">
        <p14:creationId xmlns:p14="http://schemas.microsoft.com/office/powerpoint/2010/main" val="1141325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2026-05-13T05:11:23.1840000Z</dcterms:created>
  <dcterms:modified xsi:type="dcterms:W3CDTF">2026-05-13T05:11:23.1840000Z</dcterms:modified>
</coreProperties>
</file>